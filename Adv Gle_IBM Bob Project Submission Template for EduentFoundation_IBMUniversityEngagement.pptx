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5" r:id="rId10"/>
    <p:sldId id="267" r:id="rId11"/>
    <p:sldId id="268" r:id="rId12"/>
    <p:sldId id="269" r:id="rId13"/>
    <p:sldId id="270" r:id="rId14"/>
    <p:sldId id="271" r:id="rId15"/>
    <p:sldId id="272" r:id="rId16"/>
    <p:sldId id="273" r:id="rId17"/>
    <p:sldId id="274" r:id="rId18"/>
    <p:sldId id="275"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pKt4+ayaaarKqrjIdPfj2kseL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F8C3DD-922A-41B9-AF1F-12C2BF5FD357}">
  <a:tblStyle styleId="{9AF8C3DD-922A-41B9-AF1F-12C2BF5FD35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5" name="Google Shape;19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1" name="Google Shape;20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b="1" dirty="0"/>
              <a:t>SHRI SHANAKARCHARYA TECHANICAL CAMPUS</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257870524"/>
              </p:ext>
            </p:extLst>
          </p:nvPr>
        </p:nvGraphicFramePr>
        <p:xfrm>
          <a:off x="1299257" y="2600315"/>
          <a:ext cx="9395000" cy="2167125"/>
        </p:xfrm>
        <a:graphic>
          <a:graphicData uri="http://schemas.openxmlformats.org/drawingml/2006/table">
            <a:tbl>
              <a:tblPr>
                <a:noFill/>
                <a:tableStyleId>{9AF8C3DD-922A-41B9-AF1F-12C2BF5FD357}</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 </a:t>
            </a:r>
            <a:r>
              <a:rPr lang="en-US" sz="2400" b="1" dirty="0">
                <a:highlight>
                  <a:srgbClr val="FFFF00"/>
                </a:highlight>
              </a:rPr>
              <a:t>Nutrition Agent</a:t>
            </a:r>
            <a:r>
              <a:rPr lang="en-US" sz="2400" b="1" i="0" u="none" strike="noStrike" cap="none" dirty="0">
                <a:solidFill>
                  <a:srgbClr val="000000"/>
                </a:solidFill>
                <a:highlight>
                  <a:srgbClr val="FFFF00"/>
                </a:highlight>
                <a:latin typeface="Arial"/>
                <a:ea typeface="Arial"/>
                <a:cs typeface="Arial"/>
                <a:sym typeface="Arial"/>
              </a:rPr>
              <a:t>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a:t>
            </a:r>
            <a:r>
              <a:rPr lang="en-US" sz="2400" b="1" i="0" u="none" strike="noStrike" cap="none" dirty="0" err="1">
                <a:solidFill>
                  <a:srgbClr val="000000"/>
                </a:solidFill>
                <a:highlight>
                  <a:srgbClr val="FFFF00"/>
                </a:highlight>
                <a:latin typeface="Arial"/>
                <a:ea typeface="Arial"/>
                <a:cs typeface="Arial"/>
                <a:sym typeface="Arial"/>
              </a:rPr>
              <a:t>NutriAI</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dirty="0">
              <a:solidFill>
                <a:srgbClr val="000000"/>
              </a:solidFill>
              <a:highlight>
                <a:srgbClr val="FFFF00"/>
              </a:highlight>
              <a:latin typeface="Arial"/>
              <a:ea typeface="Arial"/>
              <a:cs typeface="Arial"/>
              <a:sym typeface="Arial"/>
            </a:endParaRPr>
          </a:p>
        </p:txBody>
      </p:sp>
      <p:sp>
        <p:nvSpPr>
          <p:cNvPr id="90" name="Google Shape;90;p2"/>
          <p:cNvSpPr txBox="1"/>
          <p:nvPr/>
        </p:nvSpPr>
        <p:spPr>
          <a:xfrm>
            <a:off x="1211005" y="5210667"/>
            <a:ext cx="645674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Recommended font style and size:</a:t>
            </a:r>
            <a:br>
              <a:rPr lang="en-US" sz="2000" b="0" i="0" u="none" strike="noStrike" cap="none">
                <a:solidFill>
                  <a:srgbClr val="FF0000"/>
                </a:solidFill>
                <a:latin typeface="Arial"/>
                <a:ea typeface="Arial"/>
                <a:cs typeface="Arial"/>
                <a:sym typeface="Arial"/>
              </a:rPr>
            </a:br>
            <a:br>
              <a:rPr lang="en-US" sz="2000" b="0" i="0" u="none" strike="noStrike" cap="none">
                <a:solidFill>
                  <a:srgbClr val="00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Style: Arial</a:t>
            </a:r>
            <a:br>
              <a:rPr lang="en-US" sz="2000" b="0" i="0" u="none" strike="noStrike" cap="none">
                <a:solidFill>
                  <a:srgbClr val="FF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Size (Heading): 28</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Font Size (Content): 20</a:t>
            </a:r>
            <a:endParaRPr/>
          </a:p>
        </p:txBody>
      </p:sp>
      <p:pic>
        <p:nvPicPr>
          <p:cNvPr id="4" name="Picture 3">
            <a:extLst>
              <a:ext uri="{FF2B5EF4-FFF2-40B4-BE49-F238E27FC236}">
                <a16:creationId xmlns:a16="http://schemas.microsoft.com/office/drawing/2014/main" id="{B01B1A37-FD93-9842-6CC8-52E729B1AF02}"/>
              </a:ext>
            </a:extLst>
          </p:cNvPr>
          <p:cNvPicPr>
            <a:picLocks noChangeAspect="1"/>
          </p:cNvPicPr>
          <p:nvPr/>
        </p:nvPicPr>
        <p:blipFill>
          <a:blip r:embed="rId3"/>
          <a:stretch>
            <a:fillRect/>
          </a:stretch>
        </p:blipFill>
        <p:spPr>
          <a:xfrm>
            <a:off x="4108711" y="3595113"/>
            <a:ext cx="818882" cy="1067056"/>
          </a:xfrm>
          <a:prstGeom prst="rect">
            <a:avLst/>
          </a:prstGeom>
        </p:spPr>
      </p:pic>
      <p:sp>
        <p:nvSpPr>
          <p:cNvPr id="5" name="TextBox 4">
            <a:extLst>
              <a:ext uri="{FF2B5EF4-FFF2-40B4-BE49-F238E27FC236}">
                <a16:creationId xmlns:a16="http://schemas.microsoft.com/office/drawing/2014/main" id="{E4B43FB1-C8CD-252E-85E2-AC28F8866284}"/>
              </a:ext>
            </a:extLst>
          </p:cNvPr>
          <p:cNvSpPr txBox="1"/>
          <p:nvPr/>
        </p:nvSpPr>
        <p:spPr>
          <a:xfrm>
            <a:off x="1794135" y="3937183"/>
            <a:ext cx="1563329" cy="307777"/>
          </a:xfrm>
          <a:prstGeom prst="rect">
            <a:avLst/>
          </a:prstGeom>
          <a:noFill/>
        </p:spPr>
        <p:txBody>
          <a:bodyPr wrap="square" rtlCol="0">
            <a:spAutoFit/>
          </a:bodyPr>
          <a:lstStyle/>
          <a:p>
            <a:r>
              <a:rPr lang="en-US" dirty="0"/>
              <a:t>Priti Sonkar</a:t>
            </a:r>
            <a:endParaRPr lang="en-IN" dirty="0"/>
          </a:p>
        </p:txBody>
      </p:sp>
      <p:sp>
        <p:nvSpPr>
          <p:cNvPr id="6" name="TextBox 5">
            <a:extLst>
              <a:ext uri="{FF2B5EF4-FFF2-40B4-BE49-F238E27FC236}">
                <a16:creationId xmlns:a16="http://schemas.microsoft.com/office/drawing/2014/main" id="{12CA9FAD-EB5A-9828-A859-66CDE099E9BA}"/>
              </a:ext>
            </a:extLst>
          </p:cNvPr>
          <p:cNvSpPr txBox="1"/>
          <p:nvPr/>
        </p:nvSpPr>
        <p:spPr>
          <a:xfrm>
            <a:off x="5849226" y="3974753"/>
            <a:ext cx="2523654" cy="307777"/>
          </a:xfrm>
          <a:prstGeom prst="rect">
            <a:avLst/>
          </a:prstGeom>
          <a:noFill/>
        </p:spPr>
        <p:txBody>
          <a:bodyPr wrap="square" rtlCol="0">
            <a:spAutoFit/>
          </a:bodyPr>
          <a:lstStyle/>
          <a:p>
            <a:r>
              <a:rPr lang="en-US" dirty="0"/>
              <a:t>pritisonkar3030@gmail.com</a:t>
            </a:r>
            <a:endParaRPr lang="en-IN" dirty="0"/>
          </a:p>
        </p:txBody>
      </p:sp>
      <p:sp>
        <p:nvSpPr>
          <p:cNvPr id="7" name="TextBox 6">
            <a:extLst>
              <a:ext uri="{FF2B5EF4-FFF2-40B4-BE49-F238E27FC236}">
                <a16:creationId xmlns:a16="http://schemas.microsoft.com/office/drawing/2014/main" id="{4A80DC11-F4F1-AC12-A908-6B3EC6F855BE}"/>
              </a:ext>
            </a:extLst>
          </p:cNvPr>
          <p:cNvSpPr txBox="1"/>
          <p:nvPr/>
        </p:nvSpPr>
        <p:spPr>
          <a:xfrm>
            <a:off x="8903043" y="3938603"/>
            <a:ext cx="1869138" cy="307777"/>
          </a:xfrm>
          <a:prstGeom prst="rect">
            <a:avLst/>
          </a:prstGeom>
          <a:noFill/>
        </p:spPr>
        <p:txBody>
          <a:bodyPr wrap="square" rtlCol="0">
            <a:spAutoFit/>
          </a:bodyPr>
          <a:lstStyle/>
          <a:p>
            <a:r>
              <a:rPr lang="en-US" dirty="0"/>
              <a:t>9201136350</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0475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Problem Statement : Nutrition Agent</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Challenge</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Good nutrition is the foundation of health, but individuals often struggle with </a:t>
            </a:r>
            <a:r>
              <a:rPr lang="en-US" sz="1400" b="1" i="0" u="none" strike="noStrike" cap="none">
                <a:solidFill>
                  <a:srgbClr val="000000"/>
                </a:solidFill>
                <a:latin typeface="Arial"/>
                <a:ea typeface="Arial"/>
                <a:cs typeface="Arial"/>
                <a:sym typeface="Arial"/>
              </a:rPr>
              <a:t>diet planning, portion control, and tracking nutritional intake</a:t>
            </a:r>
            <a:r>
              <a:rPr lang="en-US" sz="1400" b="0" i="0" u="none" strike="noStrike" cap="none">
                <a:solidFill>
                  <a:srgbClr val="000000"/>
                </a:solidFill>
                <a:latin typeface="Arial"/>
                <a:ea typeface="Arial"/>
                <a:cs typeface="Arial"/>
                <a:sym typeface="Arial"/>
              </a:rPr>
              <a:t>. Information about healthy diets, disease-specific nutrition, and food composition is scattered across unreliable sources. Without </a:t>
            </a:r>
            <a:r>
              <a:rPr lang="en-US" sz="1400" b="1" i="0" u="none" strike="noStrike" cap="none">
                <a:solidFill>
                  <a:srgbClr val="000000"/>
                </a:solidFill>
                <a:latin typeface="Arial"/>
                <a:ea typeface="Arial"/>
                <a:cs typeface="Arial"/>
                <a:sym typeface="Arial"/>
              </a:rPr>
              <a:t>personalized, real-time guidance</a:t>
            </a:r>
            <a:r>
              <a:rPr lang="en-US" sz="1400" b="0" i="0" u="none" strike="noStrike" cap="none">
                <a:solidFill>
                  <a:srgbClr val="000000"/>
                </a:solidFill>
                <a:latin typeface="Arial"/>
                <a:ea typeface="Arial"/>
                <a:cs typeface="Arial"/>
                <a:sym typeface="Arial"/>
              </a:rPr>
              <a:t>, many fail to maintain balanced diets or make informed food choices.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Objective</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Build an </a:t>
            </a:r>
            <a:r>
              <a:rPr lang="en-US" sz="1400" b="1" i="0" u="none" strike="noStrike" cap="none">
                <a:solidFill>
                  <a:srgbClr val="000000"/>
                </a:solidFill>
                <a:latin typeface="Arial"/>
                <a:ea typeface="Arial"/>
                <a:cs typeface="Arial"/>
                <a:sym typeface="Arial"/>
              </a:rPr>
              <a:t>AI-powered Nutrition Agent</a:t>
            </a:r>
            <a:r>
              <a:rPr lang="en-US" sz="1400" b="0" i="0" u="none" strike="noStrike" cap="none">
                <a:solidFill>
                  <a:srgbClr val="000000"/>
                </a:solidFill>
                <a:latin typeface="Arial"/>
                <a:ea typeface="Arial"/>
                <a:cs typeface="Arial"/>
                <a:sym typeface="Arial"/>
              </a:rPr>
              <a:t> that delivers </a:t>
            </a:r>
            <a:r>
              <a:rPr lang="en-US" sz="1400" b="1" i="0" u="none" strike="noStrike" cap="none">
                <a:solidFill>
                  <a:srgbClr val="000000"/>
                </a:solidFill>
                <a:latin typeface="Arial"/>
                <a:ea typeface="Arial"/>
                <a:cs typeface="Arial"/>
                <a:sym typeface="Arial"/>
              </a:rPr>
              <a:t>personalized dietary insights and guidance</a:t>
            </a:r>
            <a:r>
              <a:rPr lang="en-US" sz="1400" b="0" i="0" u="none" strike="noStrike" cap="none">
                <a:solidFill>
                  <a:srgbClr val="000000"/>
                </a:solidFill>
                <a:latin typeface="Arial"/>
                <a:ea typeface="Arial"/>
                <a:cs typeface="Arial"/>
                <a:sym typeface="Arial"/>
              </a:rPr>
              <a:t> for individuals, families, and health professionals. The solution should: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Personalized Diet Plans</a:t>
            </a:r>
            <a:r>
              <a:rPr lang="en-US" sz="1400" b="0" i="0" u="none" strike="noStrike" cap="none">
                <a:solidFill>
                  <a:srgbClr val="000000"/>
                </a:solidFill>
                <a:latin typeface="Arial"/>
                <a:ea typeface="Arial"/>
                <a:cs typeface="Arial"/>
                <a:sym typeface="Arial"/>
              </a:rPr>
              <a:t> – Recommend meals based on age, health conditions, allergies, cultural preferences, and fitness goals.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Food Data RAG Retrieval</a:t>
            </a:r>
            <a:r>
              <a:rPr lang="en-US" sz="1400" b="0" i="0" u="none" strike="noStrike" cap="none">
                <a:solidFill>
                  <a:srgbClr val="000000"/>
                </a:solidFill>
                <a:latin typeface="Arial"/>
                <a:ea typeface="Arial"/>
                <a:cs typeface="Arial"/>
                <a:sym typeface="Arial"/>
              </a:rPr>
              <a:t> – Fetch and summarize nutritional values (calories, macros, vitamins) from reliable sources.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Diet Tracking &amp; Feedback</a:t>
            </a:r>
            <a:r>
              <a:rPr lang="en-US" sz="1400" b="0" i="0" u="none" strike="noStrike" cap="none">
                <a:solidFill>
                  <a:srgbClr val="000000"/>
                </a:solidFill>
                <a:latin typeface="Arial"/>
                <a:ea typeface="Arial"/>
                <a:cs typeface="Arial"/>
                <a:sym typeface="Arial"/>
              </a:rPr>
              <a:t> – Allow users to log meals via text, images, or voice, and provide instant nutritional analysis.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Preventive Health Focus</a:t>
            </a:r>
            <a:r>
              <a:rPr lang="en-US" sz="1400" b="0" i="0" u="none" strike="noStrike" cap="none">
                <a:solidFill>
                  <a:srgbClr val="000000"/>
                </a:solidFill>
                <a:latin typeface="Arial"/>
                <a:ea typeface="Arial"/>
                <a:cs typeface="Arial"/>
                <a:sym typeface="Arial"/>
              </a:rPr>
              <a:t> – Suggest diets for chronic disease management (e.g., diabetes-friendly or heart-healthy plans).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Multi-Agent System</a:t>
            </a:r>
            <a:r>
              <a:rPr lang="en-US" sz="1400" b="0" i="0" u="none" strike="noStrike" cap="none">
                <a:solidFill>
                  <a:srgbClr val="000000"/>
                </a:solidFill>
                <a:latin typeface="Arial"/>
                <a:ea typeface="Arial"/>
                <a:cs typeface="Arial"/>
                <a:sym typeface="Arial"/>
              </a:rPr>
              <a:t> –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Nutrition Knowledge Agent</a:t>
            </a:r>
            <a:r>
              <a:rPr lang="en-US" sz="1400" b="0" i="0" u="none" strike="noStrike" cap="none">
                <a:solidFill>
                  <a:srgbClr val="000000"/>
                </a:solidFill>
                <a:latin typeface="Arial"/>
                <a:ea typeface="Arial"/>
                <a:cs typeface="Arial"/>
                <a:sym typeface="Arial"/>
              </a:rPr>
              <a:t> (fetches nutritional data)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Diet Recommendation Agent</a:t>
            </a:r>
            <a:r>
              <a:rPr lang="en-US" sz="1400" b="0" i="0" u="none" strike="noStrike" cap="none">
                <a:solidFill>
                  <a:srgbClr val="000000"/>
                </a:solidFill>
                <a:latin typeface="Arial"/>
                <a:ea typeface="Arial"/>
                <a:cs typeface="Arial"/>
                <a:sym typeface="Arial"/>
              </a:rPr>
              <a:t> (personalized meal plans)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Health Advisory Agent</a:t>
            </a:r>
            <a:r>
              <a:rPr lang="en-US" sz="1400" b="0" i="0" u="none" strike="noStrike" cap="none">
                <a:solidFill>
                  <a:srgbClr val="000000"/>
                </a:solidFill>
                <a:latin typeface="Arial"/>
                <a:ea typeface="Arial"/>
                <a:cs typeface="Arial"/>
                <a:sym typeface="Arial"/>
              </a:rPr>
              <a:t> (preventive health suggestions)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Food Log &amp; Feedback Agent</a:t>
            </a:r>
            <a:r>
              <a:rPr lang="en-US" sz="1400" b="0" i="0" u="none" strike="noStrike" cap="none">
                <a:solidFill>
                  <a:srgbClr val="000000"/>
                </a:solidFill>
                <a:latin typeface="Arial"/>
                <a:ea typeface="Arial"/>
                <a:cs typeface="Arial"/>
                <a:sym typeface="Arial"/>
              </a:rPr>
              <a:t> (meal tracking + analysis)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Visualization Dashboard</a:t>
            </a:r>
            <a:r>
              <a:rPr lang="en-US" sz="1400" b="0" i="0" u="none" strike="noStrike" cap="none">
                <a:solidFill>
                  <a:srgbClr val="000000"/>
                </a:solidFill>
                <a:latin typeface="Arial"/>
                <a:ea typeface="Arial"/>
                <a:cs typeface="Arial"/>
                <a:sym typeface="Arial"/>
              </a:rPr>
              <a:t> – Show daily/weekly nutrient intake, deficiencies, and progress toward health goals.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576072" y="1234440"/>
            <a:ext cx="10607040"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Proposed Solution: AI-Powered Nutrition Agent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proposed solution is a </a:t>
            </a:r>
            <a:r>
              <a:rPr lang="en-US" sz="1400" b="1" i="0" u="none" strike="noStrike" cap="none">
                <a:solidFill>
                  <a:srgbClr val="000000"/>
                </a:solidFill>
                <a:latin typeface="Arial"/>
                <a:ea typeface="Arial"/>
                <a:cs typeface="Arial"/>
                <a:sym typeface="Arial"/>
              </a:rPr>
              <a:t>multi-agent AI-powered Nutrition Agent</a:t>
            </a:r>
            <a:r>
              <a:rPr lang="en-US" sz="1400" b="0" i="0" u="none" strike="noStrike" cap="none">
                <a:solidFill>
                  <a:srgbClr val="000000"/>
                </a:solidFill>
                <a:latin typeface="Arial"/>
                <a:ea typeface="Arial"/>
                <a:cs typeface="Arial"/>
                <a:sym typeface="Arial"/>
              </a:rPr>
              <a:t> built using </a:t>
            </a:r>
            <a:r>
              <a:rPr lang="en-US" sz="1400" b="1" i="0" u="none" strike="noStrike" cap="none">
                <a:solidFill>
                  <a:srgbClr val="000000"/>
                </a:solidFill>
                <a:latin typeface="Arial"/>
                <a:ea typeface="Arial"/>
                <a:cs typeface="Arial"/>
                <a:sym typeface="Arial"/>
              </a:rPr>
              <a:t>IBM Bob, IBM watsonx.ai, and Granite Models</a:t>
            </a:r>
            <a:r>
              <a:rPr lang="en-US" sz="1400" b="0" i="0" u="none" strike="noStrike" cap="non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At its core, the solution uses a </a:t>
            </a:r>
            <a:r>
              <a:rPr lang="en-US" sz="1400" b="1" i="0" u="none" strike="noStrike" cap="none">
                <a:solidFill>
                  <a:srgbClr val="000000"/>
                </a:solidFill>
                <a:latin typeface="Arial"/>
                <a:ea typeface="Arial"/>
                <a:cs typeface="Arial"/>
                <a:sym typeface="Arial"/>
              </a:rPr>
              <a:t>Retrieval-Augmented Generation (RAG)</a:t>
            </a:r>
            <a:r>
              <a:rPr lang="en-US" sz="1400" b="0" i="0" u="none" strike="noStrike" cap="non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system consists of four key agents:</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Nutrition Knowledge Agent</a:t>
            </a:r>
            <a:r>
              <a:rPr lang="en-US" sz="1400" b="0" i="0" u="none" strike="noStrike" cap="none">
                <a:solidFill>
                  <a:srgbClr val="000000"/>
                </a:solidFill>
                <a:latin typeface="Arial"/>
                <a:ea typeface="Arial"/>
                <a:cs typeface="Arial"/>
                <a:sym typeface="Arial"/>
              </a:rPr>
              <a:t> retrieves and summarizes nutritional information using RAG.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Diet Recommendation Agent</a:t>
            </a:r>
            <a:r>
              <a:rPr lang="en-US" sz="1400" b="0" i="0" u="none" strike="noStrike" cap="none">
                <a:solidFill>
                  <a:srgbClr val="000000"/>
                </a:solidFill>
                <a:latin typeface="Arial"/>
                <a:ea typeface="Arial"/>
                <a:cs typeface="Arial"/>
                <a:sym typeface="Arial"/>
              </a:rPr>
              <a:t> generates personalized meal plans based on user inputs such as age, health conditions, dietary preferences, and fitness goals.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Health Advisory Agent</a:t>
            </a:r>
            <a:r>
              <a:rPr lang="en-US" sz="1400" b="0" i="0" u="none" strike="noStrike" cap="none">
                <a:solidFill>
                  <a:srgbClr val="000000"/>
                </a:solidFill>
                <a:latin typeface="Arial"/>
                <a:ea typeface="Arial"/>
                <a:cs typeface="Arial"/>
                <a:sym typeface="Arial"/>
              </a:rPr>
              <a:t> provides preventive health suggestions, including disease-specific diets (e.g., diabetes-friendly or heart-healthy plans).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Food Log &amp; Feedback Agent</a:t>
            </a:r>
            <a:r>
              <a:rPr lang="en-US" sz="1400" b="0" i="0" u="none" strike="noStrike" cap="none">
                <a:solidFill>
                  <a:srgbClr val="000000"/>
                </a:solidFill>
                <a:latin typeface="Arial"/>
                <a:ea typeface="Arial"/>
                <a:cs typeface="Arial"/>
                <a:sym typeface="Arial"/>
              </a:rPr>
              <a:t> allows users to log meals via text, voice, or images and delivers instant nutritional analysis with actionable feedback.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solution includes a </a:t>
            </a:r>
            <a:r>
              <a:rPr lang="en-US" sz="1400" b="1" i="0" u="none" strike="noStrike" cap="none">
                <a:solidFill>
                  <a:srgbClr val="000000"/>
                </a:solidFill>
                <a:latin typeface="Arial"/>
                <a:ea typeface="Arial"/>
                <a:cs typeface="Arial"/>
                <a:sym typeface="Arial"/>
              </a:rPr>
              <a:t>user-friendly dashboard</a:t>
            </a:r>
            <a:r>
              <a:rPr lang="en-US" sz="1400" b="0" i="0" u="none" strike="noStrike" cap="non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IBM Bob is used to orchestrate agent workflows, while watsonx.ai ensures scalable model deployment, embeddings, and AI governance. Granite models power reasoning, summarization, and personalization.</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this solution delivers an </a:t>
            </a:r>
            <a:r>
              <a:rPr lang="en-US" sz="1400" b="1" i="0" u="none" strike="noStrike" cap="none">
                <a:solidFill>
                  <a:srgbClr val="000000"/>
                </a:solidFill>
                <a:latin typeface="Arial"/>
                <a:ea typeface="Arial"/>
                <a:cs typeface="Arial"/>
                <a:sym typeface="Arial"/>
              </a:rPr>
              <a:t>end-to-end intelligent nutrition assistant</a:t>
            </a:r>
            <a:r>
              <a:rPr lang="en-US" sz="1400" b="0" i="0" u="none" strike="noStrike" cap="non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Bob platform </a:t>
            </a:r>
            <a:r>
              <a:rPr lang="en-US" sz="1800" b="0" i="0" u="none" strike="noStrike" cap="none">
                <a:solidFill>
                  <a:srgbClr val="000000"/>
                </a:solidFill>
                <a:latin typeface="Arial"/>
                <a:ea typeface="Arial"/>
                <a:cs typeface="Arial"/>
                <a:sym typeface="Arial"/>
              </a:rPr>
              <a:t>-For designing and orchestrating multi-agent workflows visually</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Grainte model </a:t>
            </a:r>
            <a:r>
              <a:rPr lang="en-US" sz="1800" b="0" i="0" u="none" strike="noStrike" cap="none">
                <a:solidFill>
                  <a:srgbClr val="000000"/>
                </a:solidFill>
                <a:latin typeface="Arial"/>
                <a:ea typeface="Arial"/>
                <a:cs typeface="Arial"/>
                <a:sym typeface="Arial"/>
              </a:rPr>
              <a:t>-  for eg – ibm-granite-3-2-8b – For natural language understanding, reasoning, and personalization</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Cloud </a:t>
            </a:r>
            <a:r>
              <a:rPr lang="en-US" sz="1800" b="0" i="0" u="none" strike="noStrike" cap="none">
                <a:solidFill>
                  <a:srgbClr val="000000"/>
                </a:solidFill>
                <a:latin typeface="Arial"/>
                <a:ea typeface="Arial"/>
                <a:cs typeface="Arial"/>
                <a:sym typeface="Arial"/>
              </a:rPr>
              <a:t>– It provides the infrastructure to build, deploy, and scale the Nutrition Agent efficiently. IBM Cloud enables a </a:t>
            </a:r>
            <a:r>
              <a:rPr lang="en-US" sz="1800" b="1" i="0" u="none" strike="noStrike" cap="none">
                <a:solidFill>
                  <a:srgbClr val="000000"/>
                </a:solidFill>
                <a:latin typeface="Arial"/>
                <a:ea typeface="Arial"/>
                <a:cs typeface="Arial"/>
                <a:sym typeface="Arial"/>
              </a:rPr>
              <a:t>reliable, secure, and scalable environment</a:t>
            </a:r>
            <a:r>
              <a:rPr lang="en-US" sz="1800" b="0" i="0" u="none" strike="noStrike" cap="none">
                <a:solidFill>
                  <a:srgbClr val="000000"/>
                </a:solidFill>
                <a:latin typeface="Arial"/>
                <a:ea typeface="Arial"/>
                <a:cs typeface="Arial"/>
                <a:sym typeface="Arial"/>
              </a:rPr>
              <a:t> for deploying the Nutrition Agent.</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RAG– </a:t>
            </a:r>
            <a:r>
              <a:rPr lang="en-US" sz="1800" b="0" i="0" u="none" strike="noStrike" cap="none">
                <a:solidFill>
                  <a:srgbClr val="000000"/>
                </a:solidFill>
                <a:latin typeface="Arial"/>
                <a:ea typeface="Arial"/>
                <a:cs typeface="Arial"/>
                <a:sym typeface="Arial"/>
              </a:rPr>
              <a:t>RAG to </a:t>
            </a:r>
            <a:r>
              <a:rPr lang="en-US" sz="1800" b="1" i="0" u="none" strike="noStrike" cap="none">
                <a:solidFill>
                  <a:srgbClr val="000000"/>
                </a:solidFill>
                <a:latin typeface="Arial"/>
                <a:ea typeface="Arial"/>
                <a:cs typeface="Arial"/>
                <a:sym typeface="Arial"/>
              </a:rPr>
              <a:t>fetch real data first, then generate intelligent answers</a:t>
            </a:r>
            <a:r>
              <a:rPr lang="en-US" sz="1800" b="0" i="0" u="none" strike="noStrike" cap="none">
                <a:solidFill>
                  <a:srgbClr val="000000"/>
                </a:solidFill>
                <a:latin typeface="Arial"/>
                <a:ea typeface="Arial"/>
                <a:cs typeface="Arial"/>
                <a:sym typeface="Arial"/>
              </a:rPr>
              <a:t>, making the Nutrition Agent more trustworthy and effective.</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Watsonx.ai - </a:t>
            </a:r>
            <a:r>
              <a:rPr lang="en-US" sz="1800" b="0" i="0" u="none" strike="noStrike" cap="none">
                <a:solidFill>
                  <a:srgbClr val="000000"/>
                </a:solidFill>
                <a:latin typeface="Arial"/>
                <a:ea typeface="Arial"/>
                <a:cs typeface="Arial"/>
                <a:sym typeface="Arial"/>
              </a:rPr>
              <a:t>For model deployment, embeddings, and AI governance</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Vector Database </a:t>
            </a:r>
            <a:r>
              <a:rPr lang="en-US" sz="1800" b="0" i="0" u="none" strike="noStrike" cap="none">
                <a:solidFill>
                  <a:srgbClr val="000000"/>
                </a:solidFill>
                <a:latin typeface="Arial"/>
                <a:ea typeface="Arial"/>
                <a:cs typeface="Arial"/>
                <a:sym typeface="Arial"/>
              </a:rPr>
              <a:t>(FAISS/Chroma) – For RAG-based nutritional data retrieval</a:t>
            </a: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Required Files created using IBM bob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4739759"/>
          </a:xfrm>
          <a:prstGeom prst="rect">
            <a:avLst/>
          </a:prstGeom>
          <a:noFill/>
          <a:ln>
            <a:noFill/>
          </a:ln>
        </p:spPr>
        <p:txBody>
          <a:bodyPr spcFirstLastPara="1" wrap="square" lIns="91425" tIns="45700" rIns="91425" bIns="45700" anchor="t" anchorCtr="0">
            <a:spAutoFit/>
          </a:bodyPr>
          <a:lstStyle/>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App.py</a:t>
            </a:r>
            <a:endParaRPr/>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Requirements.txt</a:t>
            </a:r>
            <a:endParaRPr/>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Style.css </a:t>
            </a:r>
            <a:endParaRPr/>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.env</a:t>
            </a:r>
            <a:endParaRPr/>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Index.html</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pic>
        <p:nvPicPr>
          <p:cNvPr id="121" name="Google Shape;121;p37"/>
          <p:cNvPicPr preferRelativeResize="0"/>
          <p:nvPr/>
        </p:nvPicPr>
        <p:blipFill rotWithShape="1">
          <a:blip r:embed="rId3">
            <a:alphaModFix/>
          </a:blip>
          <a:srcRect/>
          <a:stretch/>
        </p:blipFill>
        <p:spPr>
          <a:xfrm>
            <a:off x="4014215" y="1860506"/>
            <a:ext cx="7868367" cy="4512862"/>
          </a:xfrm>
          <a:prstGeom prst="rect">
            <a:avLst/>
          </a:prstGeom>
          <a:noFill/>
          <a:ln>
            <a:noFill/>
          </a:ln>
        </p:spPr>
      </p:pic>
      <p:sp>
        <p:nvSpPr>
          <p:cNvPr id="122" name="Google Shape;122;p37"/>
          <p:cNvSpPr/>
          <p:nvPr/>
        </p:nvSpPr>
        <p:spPr>
          <a:xfrm>
            <a:off x="4250700" y="2029968"/>
            <a:ext cx="5908284" cy="317232"/>
          </a:xfrm>
          <a:prstGeom prst="rect">
            <a:avLst/>
          </a:prstGeom>
          <a:solidFill>
            <a:srgbClr val="E71224">
              <a:alpha val="5098"/>
            </a:srgbClr>
          </a:solidFill>
          <a:ln w="72000" cap="flat" cmpd="sng">
            <a:solidFill>
              <a:srgbClr val="E7122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E71224"/>
              </a:solidFill>
              <a:latin typeface="Arial"/>
              <a:ea typeface="Arial"/>
              <a:cs typeface="Arial"/>
              <a:sym typeface="Arial"/>
            </a:endParaRPr>
          </a:p>
        </p:txBody>
      </p:sp>
      <p:pic>
        <p:nvPicPr>
          <p:cNvPr id="3" name="Picture 2">
            <a:extLst>
              <a:ext uri="{FF2B5EF4-FFF2-40B4-BE49-F238E27FC236}">
                <a16:creationId xmlns:a16="http://schemas.microsoft.com/office/drawing/2014/main" id="{82D90C9A-59D6-DF98-D420-A5A2C8B5357B}"/>
              </a:ext>
            </a:extLst>
          </p:cNvPr>
          <p:cNvPicPr>
            <a:picLocks noChangeAspect="1"/>
          </p:cNvPicPr>
          <p:nvPr/>
        </p:nvPicPr>
        <p:blipFill>
          <a:blip r:embed="rId4"/>
          <a:stretch>
            <a:fillRect/>
          </a:stretch>
        </p:blipFill>
        <p:spPr>
          <a:xfrm>
            <a:off x="4014215" y="1860506"/>
            <a:ext cx="7892153" cy="44791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i="0" u="none" strike="noStrike" cap="none">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50925D07-DB6D-EDD0-8556-71052EA088FE}"/>
              </a:ext>
            </a:extLst>
          </p:cNvPr>
          <p:cNvPicPr>
            <a:picLocks noChangeAspect="1"/>
          </p:cNvPicPr>
          <p:nvPr/>
        </p:nvPicPr>
        <p:blipFill>
          <a:blip r:embed="rId3"/>
          <a:stretch>
            <a:fillRect/>
          </a:stretch>
        </p:blipFill>
        <p:spPr>
          <a:xfrm>
            <a:off x="849017" y="1081548"/>
            <a:ext cx="10500640" cy="53619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4" name="Picture 3">
            <a:extLst>
              <a:ext uri="{FF2B5EF4-FFF2-40B4-BE49-F238E27FC236}">
                <a16:creationId xmlns:a16="http://schemas.microsoft.com/office/drawing/2014/main" id="{636C07E3-E151-417A-62A6-621A97E83BE4}"/>
              </a:ext>
            </a:extLst>
          </p:cNvPr>
          <p:cNvPicPr>
            <a:picLocks noChangeAspect="1"/>
          </p:cNvPicPr>
          <p:nvPr/>
        </p:nvPicPr>
        <p:blipFill>
          <a:blip r:embed="rId3"/>
          <a:stretch>
            <a:fillRect/>
          </a:stretch>
        </p:blipFill>
        <p:spPr>
          <a:xfrm>
            <a:off x="919316" y="432619"/>
            <a:ext cx="10579510" cy="6007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48" name="Google Shape;14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49" name="Google Shape;149;p9"/>
          <p:cNvSpPr txBox="1"/>
          <p:nvPr/>
        </p:nvSpPr>
        <p:spPr>
          <a:xfrm>
            <a:off x="621792" y="1167493"/>
            <a:ext cx="7406640"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Role of Agentic AI in Nutrition Agent</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Agentic AI</a:t>
            </a:r>
            <a:r>
              <a:rPr lang="en-US" sz="1400" b="0" i="0" u="none" strike="noStrike" cap="none">
                <a:solidFill>
                  <a:srgbClr val="000000"/>
                </a:solidFill>
                <a:latin typeface="Arial"/>
                <a:ea typeface="Arial"/>
                <a:cs typeface="Arial"/>
                <a:sym typeface="Arial"/>
              </a:rPr>
              <a:t> enables the Nutrition Agent to function as an intelligent, autonomous system rather than a simple chatbot. Using </a:t>
            </a:r>
            <a:r>
              <a:rPr lang="en-US" sz="1400" b="1" i="0" u="none" strike="noStrike" cap="none">
                <a:solidFill>
                  <a:srgbClr val="000000"/>
                </a:solidFill>
                <a:latin typeface="Arial"/>
                <a:ea typeface="Arial"/>
                <a:cs typeface="Arial"/>
                <a:sym typeface="Arial"/>
              </a:rPr>
              <a:t>IBM watsonx.ai</a:t>
            </a:r>
            <a:r>
              <a:rPr lang="en-US" sz="1400" b="0" i="0" u="none" strike="noStrike" cap="none">
                <a:solidFill>
                  <a:srgbClr val="000000"/>
                </a:solidFill>
                <a:latin typeface="Arial"/>
                <a:ea typeface="Arial"/>
                <a:cs typeface="Arial"/>
                <a:sym typeface="Arial"/>
              </a:rPr>
              <a:t> and </a:t>
            </a:r>
            <a:r>
              <a:rPr lang="en-US" sz="1400" b="1" i="0" u="none" strike="noStrike" cap="none">
                <a:solidFill>
                  <a:srgbClr val="000000"/>
                </a:solidFill>
                <a:latin typeface="Arial"/>
                <a:ea typeface="Arial"/>
                <a:cs typeface="Arial"/>
                <a:sym typeface="Arial"/>
              </a:rPr>
              <a:t>IBM Granite models</a:t>
            </a:r>
            <a:r>
              <a:rPr lang="en-US" sz="1400" b="0" i="0" u="none" strike="noStrike" cap="none">
                <a:solidFill>
                  <a:srgbClr val="000000"/>
                </a:solidFill>
                <a:latin typeface="Arial"/>
                <a:ea typeface="Arial"/>
                <a:cs typeface="Arial"/>
                <a:sym typeface="Arial"/>
              </a:rPr>
              <a:t>, it coordinates multiple specialized agents to deliver personalized nutrition guidance.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Each agent performs a specific role—such as retrieving nutritional data, generating diet plans, providing health advice, and analyzing food logs—while working collaboratively. This </a:t>
            </a:r>
            <a:r>
              <a:rPr lang="en-US" sz="1400" b="1" i="0" u="none" strike="noStrike" cap="none">
                <a:solidFill>
                  <a:srgbClr val="000000"/>
                </a:solidFill>
                <a:latin typeface="Arial"/>
                <a:ea typeface="Arial"/>
                <a:cs typeface="Arial"/>
                <a:sym typeface="Arial"/>
              </a:rPr>
              <a:t>multi-agent approach</a:t>
            </a:r>
            <a:r>
              <a:rPr lang="en-US" sz="1400" b="0" i="0" u="none" strike="noStrike" cap="none">
                <a:solidFill>
                  <a:srgbClr val="000000"/>
                </a:solidFill>
                <a:latin typeface="Arial"/>
                <a:ea typeface="Arial"/>
                <a:cs typeface="Arial"/>
                <a:sym typeface="Arial"/>
              </a:rPr>
              <a:t> ensures efficient task execution and accurate results.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Agentic AI also brings </a:t>
            </a:r>
            <a:r>
              <a:rPr lang="en-US" sz="1400" b="1" i="0" u="none" strike="noStrike" cap="none">
                <a:solidFill>
                  <a:srgbClr val="000000"/>
                </a:solidFill>
                <a:latin typeface="Arial"/>
                <a:ea typeface="Arial"/>
                <a:cs typeface="Arial"/>
                <a:sym typeface="Arial"/>
              </a:rPr>
              <a:t>context awareness</a:t>
            </a:r>
            <a:r>
              <a:rPr lang="en-US" sz="1400" b="0" i="0" u="none" strike="noStrike" cap="none">
                <a:solidFill>
                  <a:srgbClr val="000000"/>
                </a:solidFill>
                <a:latin typeface="Arial"/>
                <a:ea typeface="Arial"/>
                <a:cs typeface="Arial"/>
                <a:sym typeface="Arial"/>
              </a:rPr>
              <a:t>, understanding user details like age, health conditions, and fitness goals to generate tailored recommendations. It supports </a:t>
            </a:r>
            <a:r>
              <a:rPr lang="en-US" sz="1400" b="1" i="0" u="none" strike="noStrike" cap="none">
                <a:solidFill>
                  <a:srgbClr val="000000"/>
                </a:solidFill>
                <a:latin typeface="Arial"/>
                <a:ea typeface="Arial"/>
                <a:cs typeface="Arial"/>
                <a:sym typeface="Arial"/>
              </a:rPr>
              <a:t>real-time adaptation</a:t>
            </a:r>
            <a:r>
              <a:rPr lang="en-US" sz="1400" b="0" i="0" u="none" strike="noStrike" cap="none">
                <a:solidFill>
                  <a:srgbClr val="000000"/>
                </a:solidFill>
                <a:latin typeface="Arial"/>
                <a:ea typeface="Arial"/>
                <a:cs typeface="Arial"/>
                <a:sym typeface="Arial"/>
              </a:rPr>
              <a:t>, continuously updating suggestions based on user inputs like daily meals.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Additionally, agents communicate with each other, enabling better decision-making and improved outcomes.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Agentic AI makes the system proactive, personalized, and goal-driven, acting like a </a:t>
            </a:r>
            <a:r>
              <a:rPr lang="en-US" sz="1400" b="1" i="0" u="none" strike="noStrike" cap="none">
                <a:solidFill>
                  <a:srgbClr val="000000"/>
                </a:solidFill>
                <a:latin typeface="Arial"/>
                <a:ea typeface="Arial"/>
                <a:cs typeface="Arial"/>
                <a:sym typeface="Arial"/>
              </a:rPr>
              <a:t>smart digital nutritionist</a:t>
            </a:r>
            <a:r>
              <a:rPr lang="en-US" sz="1400" b="0" i="0" u="none" strike="noStrike" cap="none">
                <a:solidFill>
                  <a:srgbClr val="000000"/>
                </a:solidFill>
                <a:latin typeface="Arial"/>
                <a:ea typeface="Arial"/>
                <a:cs typeface="Arial"/>
                <a:sym typeface="Arial"/>
              </a:rPr>
              <a:t> that helps users maintain a healthy lifestyle.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1"/>
          <p:cNvSpPr/>
          <p:nvPr/>
        </p:nvSpPr>
        <p:spPr>
          <a:xfrm>
            <a:off x="409144" y="1129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 Project Output Screenshot</a:t>
            </a:r>
            <a:endParaRPr sz="2400" b="1" i="0" u="none" strike="noStrike" cap="none">
              <a:solidFill>
                <a:srgbClr val="000000"/>
              </a:solidFill>
              <a:latin typeface="Arial"/>
              <a:ea typeface="Arial"/>
              <a:cs typeface="Arial"/>
              <a:sym typeface="Arial"/>
            </a:endParaRPr>
          </a:p>
        </p:txBody>
      </p:sp>
      <p:sp>
        <p:nvSpPr>
          <p:cNvPr id="168" name="Google Shape;168;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1" name="Google Shape;171;p41"/>
          <p:cNvSpPr txBox="1"/>
          <p:nvPr/>
        </p:nvSpPr>
        <p:spPr>
          <a:xfrm>
            <a:off x="1335024" y="1865376"/>
            <a:ext cx="6833922"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Please put IBM Bob output screenshots with 2-3 prompts. </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You can take 2-3 more slides for each screenshot</a:t>
            </a:r>
            <a:endParaRPr sz="2000" b="0" i="0" u="none" strike="noStrike" cap="none">
              <a:solidFill>
                <a:srgbClr val="FF0000"/>
              </a:solidFill>
              <a:latin typeface="Arial"/>
              <a:ea typeface="Arial"/>
              <a:cs typeface="Arial"/>
              <a:sym typeface="Arial"/>
            </a:endParaRPr>
          </a:p>
        </p:txBody>
      </p:sp>
      <p:pic>
        <p:nvPicPr>
          <p:cNvPr id="4" name="Picture 3">
            <a:extLst>
              <a:ext uri="{FF2B5EF4-FFF2-40B4-BE49-F238E27FC236}">
                <a16:creationId xmlns:a16="http://schemas.microsoft.com/office/drawing/2014/main" id="{A5F54593-D8B5-8B2C-7639-59944CB883B6}"/>
              </a:ext>
            </a:extLst>
          </p:cNvPr>
          <p:cNvPicPr>
            <a:picLocks noChangeAspect="1"/>
          </p:cNvPicPr>
          <p:nvPr/>
        </p:nvPicPr>
        <p:blipFill>
          <a:blip r:embed="rId3"/>
          <a:stretch>
            <a:fillRect/>
          </a:stretch>
        </p:blipFill>
        <p:spPr>
          <a:xfrm>
            <a:off x="501445" y="826809"/>
            <a:ext cx="11281411" cy="55341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42"/>
          <p:cNvSpPr/>
          <p:nvPr/>
        </p:nvSpPr>
        <p:spPr>
          <a:xfrm>
            <a:off x="409144" y="1129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 Project Output Screenshot</a:t>
            </a:r>
            <a:endParaRPr sz="2400" b="1" i="0" u="none" strike="noStrike" cap="none">
              <a:solidFill>
                <a:srgbClr val="000000"/>
              </a:solidFill>
              <a:latin typeface="Arial"/>
              <a:ea typeface="Arial"/>
              <a:cs typeface="Arial"/>
              <a:sym typeface="Arial"/>
            </a:endParaRPr>
          </a:p>
        </p:txBody>
      </p:sp>
      <p:sp>
        <p:nvSpPr>
          <p:cNvPr id="178" name="Google Shape;17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80" name="Google Shape;18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81" name="Google Shape;181;p42"/>
          <p:cNvSpPr txBox="1"/>
          <p:nvPr/>
        </p:nvSpPr>
        <p:spPr>
          <a:xfrm>
            <a:off x="1335024" y="1865376"/>
            <a:ext cx="6833922"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Please put IBM Bob output screenshots with 2-3 prompts. </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You can take 2-3 more slides for each screenshot</a:t>
            </a:r>
            <a:endParaRPr sz="2000" b="0" i="0" u="none" strike="noStrike" cap="none">
              <a:solidFill>
                <a:srgbClr val="FF0000"/>
              </a:solidFill>
              <a:latin typeface="Arial"/>
              <a:ea typeface="Arial"/>
              <a:cs typeface="Arial"/>
              <a:sym typeface="Arial"/>
            </a:endParaRPr>
          </a:p>
        </p:txBody>
      </p:sp>
      <p:pic>
        <p:nvPicPr>
          <p:cNvPr id="4" name="Picture 3">
            <a:extLst>
              <a:ext uri="{FF2B5EF4-FFF2-40B4-BE49-F238E27FC236}">
                <a16:creationId xmlns:a16="http://schemas.microsoft.com/office/drawing/2014/main" id="{13FF1C60-5577-728A-51C6-6DD49BE68AB0}"/>
              </a:ext>
            </a:extLst>
          </p:cNvPr>
          <p:cNvPicPr>
            <a:picLocks noChangeAspect="1"/>
          </p:cNvPicPr>
          <p:nvPr/>
        </p:nvPicPr>
        <p:blipFill>
          <a:blip r:embed="rId3"/>
          <a:stretch>
            <a:fillRect/>
          </a:stretch>
        </p:blipFill>
        <p:spPr>
          <a:xfrm>
            <a:off x="707923" y="850490"/>
            <a:ext cx="10913807" cy="56946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43"/>
          <p:cNvSpPr/>
          <p:nvPr/>
        </p:nvSpPr>
        <p:spPr>
          <a:xfrm>
            <a:off x="409144" y="1129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 Project Output Screenshot</a:t>
            </a:r>
            <a:endParaRPr sz="2400" b="1" i="0" u="none" strike="noStrike" cap="none">
              <a:solidFill>
                <a:srgbClr val="000000"/>
              </a:solidFill>
              <a:latin typeface="Arial"/>
              <a:ea typeface="Arial"/>
              <a:cs typeface="Arial"/>
              <a:sym typeface="Arial"/>
            </a:endParaRPr>
          </a:p>
        </p:txBody>
      </p:sp>
      <p:sp>
        <p:nvSpPr>
          <p:cNvPr id="188" name="Google Shape;188;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89" name="Google Shape;189;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90" name="Google Shape;190;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91" name="Google Shape;191;p43"/>
          <p:cNvSpPr txBox="1"/>
          <p:nvPr/>
        </p:nvSpPr>
        <p:spPr>
          <a:xfrm>
            <a:off x="1335024" y="1865376"/>
            <a:ext cx="6833922"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Please put IBM Bob output screenshots with 2-3 prompts. </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You can take 2-3 more slides for each screenshot</a:t>
            </a:r>
            <a:endParaRPr sz="2000" b="0" i="0" u="none" strike="noStrike" cap="none">
              <a:solidFill>
                <a:srgbClr val="FF0000"/>
              </a:solidFill>
              <a:latin typeface="Arial"/>
              <a:ea typeface="Arial"/>
              <a:cs typeface="Arial"/>
              <a:sym typeface="Arial"/>
            </a:endParaRPr>
          </a:p>
        </p:txBody>
      </p:sp>
      <p:pic>
        <p:nvPicPr>
          <p:cNvPr id="4" name="Picture 3">
            <a:extLst>
              <a:ext uri="{FF2B5EF4-FFF2-40B4-BE49-F238E27FC236}">
                <a16:creationId xmlns:a16="http://schemas.microsoft.com/office/drawing/2014/main" id="{E8E2182A-2E72-71EE-FA71-4A6676F0519D}"/>
              </a:ext>
            </a:extLst>
          </p:cNvPr>
          <p:cNvPicPr>
            <a:picLocks noChangeAspect="1"/>
          </p:cNvPicPr>
          <p:nvPr/>
        </p:nvPicPr>
        <p:blipFill>
          <a:blip r:embed="rId3"/>
          <a:stretch>
            <a:fillRect/>
          </a:stretch>
        </p:blipFill>
        <p:spPr>
          <a:xfrm>
            <a:off x="993058" y="816977"/>
            <a:ext cx="10422194" cy="56951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44"/>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98" name="Google Shape;198;p44"/>
          <p:cNvSpPr txBox="1"/>
          <p:nvPr/>
        </p:nvSpPr>
        <p:spPr>
          <a:xfrm>
            <a:off x="777240" y="1207008"/>
            <a:ext cx="11301984" cy="52937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The proposed Nutrition Agent stands out by combining </a:t>
            </a:r>
            <a:r>
              <a:rPr lang="en-US" sz="1800" b="1" i="0" u="none" strike="noStrike" cap="none">
                <a:solidFill>
                  <a:srgbClr val="000000"/>
                </a:solidFill>
                <a:latin typeface="Arial"/>
                <a:ea typeface="Arial"/>
                <a:cs typeface="Arial"/>
                <a:sym typeface="Arial"/>
              </a:rPr>
              <a:t>Agentic AI, RAG, and personalization</a:t>
            </a:r>
            <a:r>
              <a:rPr lang="en-US" sz="1800" b="0" i="0" u="none" strike="noStrike" cap="none">
                <a:solidFill>
                  <a:srgbClr val="000000"/>
                </a:solidFill>
                <a:latin typeface="Arial"/>
                <a:ea typeface="Arial"/>
                <a:cs typeface="Arial"/>
                <a:sym typeface="Arial"/>
              </a:rPr>
              <a:t> into a single intelligent system.</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Multi-Agent Intelligence</a:t>
            </a:r>
            <a:r>
              <a:rPr lang="en-US" sz="1800" b="0" i="0" u="none" strike="noStrike" cap="none">
                <a:solidFill>
                  <a:srgbClr val="000000"/>
                </a:solidFill>
                <a:latin typeface="Arial"/>
                <a:ea typeface="Arial"/>
                <a:cs typeface="Arial"/>
                <a:sym typeface="Arial"/>
              </a:rPr>
              <a:t> – Instead of a single chatbot, multiple specialized agents collaborate to deliver accurate and context-aware nutrition guidance.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RAG-Based Accuracy</a:t>
            </a:r>
            <a:r>
              <a:rPr lang="en-US" sz="1800" b="0" i="0" u="none" strike="noStrike" cap="none">
                <a:solidFill>
                  <a:srgbClr val="000000"/>
                </a:solidFill>
                <a:latin typeface="Arial"/>
                <a:ea typeface="Arial"/>
                <a:cs typeface="Arial"/>
                <a:sym typeface="Arial"/>
              </a:rPr>
              <a:t> – Integrates real-time data retrieval with AI generation, reducing misinformation and ensuring trustworthy recommendations.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Hyper-Personalization</a:t>
            </a:r>
            <a:r>
              <a:rPr lang="en-US" sz="1800" b="0" i="0" u="none" strike="noStrike" cap="none">
                <a:solidFill>
                  <a:srgbClr val="000000"/>
                </a:solidFill>
                <a:latin typeface="Arial"/>
                <a:ea typeface="Arial"/>
                <a:cs typeface="Arial"/>
                <a:sym typeface="Arial"/>
              </a:rPr>
              <a:t> – Tailors diet plans based on health conditions, cultural preferences, and fitness goals.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Real-Time Feedback Loop</a:t>
            </a:r>
            <a:r>
              <a:rPr lang="en-US" sz="1800" b="0" i="0" u="none" strike="noStrike" cap="none">
                <a:solidFill>
                  <a:srgbClr val="000000"/>
                </a:solidFill>
                <a:latin typeface="Arial"/>
                <a:ea typeface="Arial"/>
                <a:cs typeface="Arial"/>
                <a:sym typeface="Arial"/>
              </a:rPr>
              <a:t> – Continuously adapts recommendations based on daily food logs and user behavior.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Multi-Modal Input</a:t>
            </a:r>
            <a:r>
              <a:rPr lang="en-US" sz="1800" b="0" i="0" u="none" strike="noStrike" cap="none">
                <a:solidFill>
                  <a:srgbClr val="000000"/>
                </a:solidFill>
                <a:latin typeface="Arial"/>
                <a:ea typeface="Arial"/>
                <a:cs typeface="Arial"/>
                <a:sym typeface="Arial"/>
              </a:rPr>
              <a:t> – Supports text, voice, and image-based meal tracking for better usability.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Preventive Healthcare Focus</a:t>
            </a:r>
            <a:r>
              <a:rPr lang="en-US" sz="1800" b="0" i="0" u="none" strike="noStrike" cap="none">
                <a:solidFill>
                  <a:srgbClr val="000000"/>
                </a:solidFill>
                <a:latin typeface="Arial"/>
                <a:ea typeface="Arial"/>
                <a:cs typeface="Arial"/>
                <a:sym typeface="Arial"/>
              </a:rPr>
              <a:t> – Goes beyond diet planning to provide disease-specific nutrition advice.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Scalable &amp; Enterprise-Ready</a:t>
            </a:r>
            <a:r>
              <a:rPr lang="en-US" sz="1800" b="0" i="0" u="none" strike="noStrike" cap="none">
                <a:solidFill>
                  <a:srgbClr val="000000"/>
                </a:solidFill>
                <a:latin typeface="Arial"/>
                <a:ea typeface="Arial"/>
                <a:cs typeface="Arial"/>
                <a:sym typeface="Arial"/>
              </a:rPr>
              <a:t> – Built on </a:t>
            </a:r>
            <a:r>
              <a:rPr lang="en-US" sz="1800" b="1" i="0" u="none" strike="noStrike" cap="none">
                <a:solidFill>
                  <a:srgbClr val="000000"/>
                </a:solidFill>
                <a:latin typeface="Arial"/>
                <a:ea typeface="Arial"/>
                <a:cs typeface="Arial"/>
                <a:sym typeface="Arial"/>
              </a:rPr>
              <a:t>IBM watsonx.ai</a:t>
            </a:r>
            <a:r>
              <a:rPr lang="en-US" sz="1800" b="0" i="0" u="none" strike="noStrike" cap="none">
                <a:solidFill>
                  <a:srgbClr val="000000"/>
                </a:solidFill>
                <a:latin typeface="Arial"/>
                <a:ea typeface="Arial"/>
                <a:cs typeface="Arial"/>
                <a:sym typeface="Arial"/>
              </a:rPr>
              <a:t> with </a:t>
            </a:r>
            <a:r>
              <a:rPr lang="en-US" sz="1800" b="1" i="0" u="none" strike="noStrike" cap="none">
                <a:solidFill>
                  <a:srgbClr val="000000"/>
                </a:solidFill>
                <a:latin typeface="Arial"/>
                <a:ea typeface="Arial"/>
                <a:cs typeface="Arial"/>
                <a:sym typeface="Arial"/>
              </a:rPr>
              <a:t>IBM Granite models</a:t>
            </a:r>
            <a:r>
              <a:rPr lang="en-US" sz="1800" b="0" i="0" u="none" strike="noStrike" cap="none">
                <a:solidFill>
                  <a:srgbClr val="000000"/>
                </a:solidFill>
                <a:latin typeface="Arial"/>
                <a:ea typeface="Arial"/>
                <a:cs typeface="Arial"/>
                <a:sym typeface="Arial"/>
              </a:rPr>
              <a:t>, ensuring reliability and governance.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This makes the solution a </a:t>
            </a:r>
            <a:r>
              <a:rPr lang="en-US" sz="1800" b="1" i="0" u="none" strike="noStrike" cap="none">
                <a:solidFill>
                  <a:srgbClr val="000000"/>
                </a:solidFill>
                <a:latin typeface="Arial"/>
                <a:ea typeface="Arial"/>
                <a:cs typeface="Arial"/>
                <a:sym typeface="Arial"/>
              </a:rPr>
              <a:t>smart, adaptive, and proactive digital nutritionist</a:t>
            </a:r>
            <a:r>
              <a:rPr lang="en-US" sz="1800" b="0" i="0" u="none" strike="noStrike" cap="none">
                <a:solidFill>
                  <a:srgbClr val="000000"/>
                </a:solidFill>
                <a:latin typeface="Arial"/>
                <a:ea typeface="Arial"/>
                <a:cs typeface="Arial"/>
                <a:sym typeface="Arial"/>
              </a:rPr>
              <a:t>, not just a static diet recommendation tool.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5"/>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204" name="Google Shape;204;p45"/>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05" name="Google Shape;205;p45"/>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06" name="Google Shape;206;p45"/>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07" name="Google Shape;207;p45"/>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6"/>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213" name="Google Shape;213;p46"/>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2.AI-Powered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14" name="Google Shape;214;p46"/>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15" name="Google Shape;215;p46"/>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16" name="Google Shape;216;p46"/>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7"/>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 name="Google Shape;222;p47"/>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3" name="Picture 2">
            <a:extLst>
              <a:ext uri="{FF2B5EF4-FFF2-40B4-BE49-F238E27FC236}">
                <a16:creationId xmlns:a16="http://schemas.microsoft.com/office/drawing/2014/main" id="{8A50B1E7-2F4F-583A-D23D-7F4C37E9AF52}"/>
              </a:ext>
            </a:extLst>
          </p:cNvPr>
          <p:cNvPicPr>
            <a:picLocks noChangeAspect="1"/>
          </p:cNvPicPr>
          <p:nvPr/>
        </p:nvPicPr>
        <p:blipFill>
          <a:blip r:embed="rId3"/>
          <a:stretch>
            <a:fillRect/>
          </a:stretch>
        </p:blipFill>
        <p:spPr>
          <a:xfrm>
            <a:off x="2741255" y="1507120"/>
            <a:ext cx="670949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9" name="Google Shape;229;p48"/>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0" name="Google Shape;230;p48"/>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C10C5F42-F945-63F8-B742-A3BDA8F04735}"/>
              </a:ext>
            </a:extLst>
          </p:cNvPr>
          <p:cNvPicPr>
            <a:picLocks noChangeAspect="1"/>
          </p:cNvPicPr>
          <p:nvPr/>
        </p:nvPicPr>
        <p:blipFill>
          <a:blip r:embed="rId3"/>
          <a:stretch>
            <a:fillRect/>
          </a:stretch>
        </p:blipFill>
        <p:spPr>
          <a:xfrm>
            <a:off x="2769293" y="1337187"/>
            <a:ext cx="6330462" cy="514227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1398</Words>
  <Application>Microsoft Office PowerPoint</Application>
  <PresentationFormat>Widescreen</PresentationFormat>
  <Paragraphs>137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SHRI SHANAKARCHARYA TECHANICAL CAMPUS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Priti Sonkar</cp:lastModifiedBy>
  <cp:revision>3</cp:revision>
  <dcterms:created xsi:type="dcterms:W3CDTF">2025-07-08T05:06:56Z</dcterms:created>
  <dcterms:modified xsi:type="dcterms:W3CDTF">2026-09-10T14:38:51Z</dcterms:modified>
</cp:coreProperties>
</file>